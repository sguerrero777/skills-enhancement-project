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C1602F"/>
            </a:solidFill>
            <a:effectLst/>
          </c:spPr>
          <c:invertIfNegative val="0"/>
          <c:dLbls>
            <c:numFmt formatCode="#,##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E2A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Technology &amp;
Accessories</c:v>
                </c:pt>
                <c:pt idx="1">
                  <c:v>Textbooks</c:v>
                </c:pt>
                <c:pt idx="2">
                  <c:v>Apparel &amp;
Merchandise</c:v>
                </c:pt>
                <c:pt idx="3">
                  <c:v>Books
(General)</c:v>
                </c:pt>
                <c:pt idx="4">
                  <c:v>Art Supplies</c:v>
                </c:pt>
                <c:pt idx="5">
                  <c:v>Stationery &amp;
Supplies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7827</c:v>
                </c:pt>
                <c:pt idx="1">
                  <c:v>2021</c:v>
                </c:pt>
                <c:pt idx="2">
                  <c:v>501</c:v>
                </c:pt>
                <c:pt idx="3">
                  <c:v>495</c:v>
                </c:pt>
                <c:pt idx="4">
                  <c:v>434</c:v>
                </c:pt>
                <c:pt idx="5">
                  <c:v>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30-45E4-9FA2-614A524A07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2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8DCCE"/>
              </a:solidFill>
              <a:prstDash val="solid"/>
              <a:round/>
            </a:ln>
          </c:spPr>
        </c:majorGridlines>
        <c:numFmt formatCode="#,##0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75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81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guerrero777/skills-enhancement-project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mporium_deck/textur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EMPORIUM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96596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Maryland Territory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Region  •  In-Store Sales  •  January 2022 – December 2025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" y="4343400"/>
            <a:ext cx="2926080" cy="0"/>
          </a:xfrm>
          <a:prstGeom prst="line">
            <a:avLst/>
          </a:prstGeom>
          <a:noFill/>
          <a:ln w="15875">
            <a:solidFill>
              <a:srgbClr val="EF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572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Manager: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 Reddy    </a:t>
            </a:r>
            <a:r>
              <a:rPr lang="en-US" sz="1250" b="1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Director: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Jarvis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Sharleen Guerrero • Jonathan Lopez • Yanuris Campusano • Kasaiah Antonio • Demy Melgar • Vesna Cari • Hamzah Alssoudi • Sha'Rya Weaver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is the top-performing territory in the Northeast region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7EEE3"/>
          </a:solidFill>
          <a:ln/>
          <a:effectLst>
            <a:outerShdw blurRad="76200" dist="25400" dir="5400000" algn="bl" rotWithShape="0">
              <a:srgbClr val="3E2A1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$11.45M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352044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Dec 2025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7373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7EEE3"/>
          </a:solidFill>
          <a:ln/>
          <a:effectLst>
            <a:outerShdw blurRad="76200" dist="25400" dir="5400000" algn="bl" rotWithShape="0">
              <a:srgbClr val="3E2A1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75304" y="192024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REGION RANK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75304" y="233172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75304" y="352044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47.25% of regional revenue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7373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7EEE3"/>
          </a:solidFill>
          <a:ln/>
          <a:effectLst>
            <a:outerShdw blurRad="76200" dist="25400" dir="5400000" algn="bl" rotWithShape="0">
              <a:srgbClr val="3E2A1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37376" y="192024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37376" y="233172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&amp;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Accessories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37376" y="352044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$7.8M in revenue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73736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7EEE3"/>
          </a:solidFill>
          <a:ln/>
          <a:effectLst>
            <a:outerShdw blurRad="76200" dist="25400" dir="5400000" algn="bl" rotWithShape="0">
              <a:srgbClr val="3E2A1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99448" y="192024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99448" y="2331720"/>
            <a:ext cx="2276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Harford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299448" y="352044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$8.7M • 69,530 transactions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91672" cy="1737360"/>
          </a:xfrm>
          <a:prstGeom prst="roundRect">
            <a:avLst>
              <a:gd name="adj" fmla="val 4211"/>
            </a:avLst>
          </a:prstGeom>
          <a:solidFill>
            <a:srgbClr val="3E2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drives nearly half of all Northeast revenue, led overwhelmingly by North Harford's transaction volume and strong Technology &amp; Accessories sales — but Textbooks are declining and Stationery &amp; Supplies shows untapped demand.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Accessories leads by a wide margin; Textbooks is the only category in decline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08760"/>
          <a:ext cx="69494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08760"/>
            <a:ext cx="4023360" cy="2240280"/>
          </a:xfrm>
          <a:prstGeom prst="roundRect">
            <a:avLst>
              <a:gd name="adj" fmla="val 3265"/>
            </a:avLst>
          </a:prstGeom>
          <a:solidFill>
            <a:srgbClr val="F5DC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A13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AT-RISK CATEGORY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Textbooks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863840" y="25146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declined twice — in 2023 and again in 2025, down $99,322. Second-largest category by revenue, but the only one trending down.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3977640"/>
            <a:ext cx="4023360" cy="2423160"/>
          </a:xfrm>
          <a:prstGeom prst="roundRect">
            <a:avLst>
              <a:gd name="adj" fmla="val 3019"/>
            </a:avLst>
          </a:prstGeom>
          <a:solidFill>
            <a:srgbClr val="EEF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6384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748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GROWTH OPPORTUNITY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4480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Stationery &amp; Supplies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863840" y="4937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#2 in transaction volume (9,862 transactions) but lowest in revenue — high customer interest that isn't yet converting to dollars.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Harford outperforms every other Maryland store combined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663440"/>
          </a:xfrm>
          <a:prstGeom prst="roundRect">
            <a:avLst>
              <a:gd name="adj" fmla="val 2051"/>
            </a:avLst>
          </a:prstGeom>
          <a:solidFill>
            <a:srgbClr val="3E2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STORE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</a:t>
            </a:r>
            <a:endParaRPr lang="en-US" sz="3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Harford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D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$8.7M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FD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69,530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— by far the highest volume in the territory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623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Harford alone drives 76% of Maryland's total revenue, powered by transaction volume rather than higher basket size.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600200"/>
          <a:ext cx="7178040" cy="3621024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Transactions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Germantown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$584,675.92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4,363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Parkville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$320,441.24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2,192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Howard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$319,394.58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2,181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Ridgely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$318,511.04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2,341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Baltimore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$310,099.90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2,222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Back River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$303,433.61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2,228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Queen Anne's County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$298,074.49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2,202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Annapolis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$288,865.31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2,207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3E2A1F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mporium_deck/textur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Next Quarter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554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7724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D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North Harford's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drives North Harford's transaction volume (staffing, layout, foot traffic) and pilot those tactics at mid-tier stores like Germantown and Parkville.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554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4652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D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446520" y="23317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Stationery &amp; Supplies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46520" y="27432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transaction interest (#2 in volume) isn't converting to revenue. Test bundling, endcap placement, or pricing changes to lift average basket size.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554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D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724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Textbooks decline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51663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down years (2023, 2025) signal a structural issue — investigate pricing, digital substitution, or assortment before it drags down overall category mix.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3977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554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465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D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46520" y="4754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Technology &amp; Accessories momentum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46520" y="51663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revenue driver ($7.8M, +$521,971 in 2025) should stay fully stocked and featured heading into the next quarter's peak buying season.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Full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7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 from the interactive Power BI report — sales overview and store &amp; product breakdown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1461" y="1435608"/>
            <a:ext cx="4177314" cy="3941064"/>
          </a:xfrm>
          <a:prstGeom prst="roundRect">
            <a:avLst>
              <a:gd name="adj" fmla="val 1160"/>
            </a:avLst>
          </a:prstGeom>
          <a:solidFill>
            <a:srgbClr val="F7EEE3"/>
          </a:solidFill>
          <a:ln w="12700">
            <a:solidFill>
              <a:srgbClr val="E8DCCE"/>
            </a:solidFill>
            <a:prstDash val="solid"/>
          </a:ln>
          <a:effectLst>
            <a:outerShdw blurRad="101600" dist="25400" dir="5400000" algn="bl" rotWithShape="0">
              <a:srgbClr val="3E2A1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Screenshot_2026-07-15_2223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13" y="1508760"/>
            <a:ext cx="403101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7927" y="1435608"/>
            <a:ext cx="5101814" cy="3941064"/>
          </a:xfrm>
          <a:prstGeom prst="roundRect">
            <a:avLst>
              <a:gd name="adj" fmla="val 1160"/>
            </a:avLst>
          </a:prstGeom>
          <a:solidFill>
            <a:srgbClr val="F7EEE3"/>
          </a:solidFill>
          <a:ln w="12700">
            <a:solidFill>
              <a:srgbClr val="E8DCCE"/>
            </a:solidFill>
            <a:prstDash val="solid"/>
          </a:ln>
          <a:effectLst>
            <a:outerShdw blurRad="101600" dist="25400" dir="5400000" algn="bl" rotWithShape="0">
              <a:srgbClr val="3E2A1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user-data/uploads/Screenshot_2026-07-15_2224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079" y="1508760"/>
            <a:ext cx="4955510" cy="3794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3E2A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14400" y="57515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FULL PROJECT ON GITHUB</a:t>
            </a:r>
            <a:endParaRPr lang="en-US" sz="1050" dirty="0"/>
          </a:p>
        </p:txBody>
      </p:sp>
      <p:sp>
        <p:nvSpPr>
          <p:cNvPr id="10" name="Text 6">
            <a:hlinkClick r:id="rId5"/>
          </p:cNvPr>
          <p:cNvSpPr/>
          <p:nvPr/>
        </p:nvSpPr>
        <p:spPr>
          <a:xfrm>
            <a:off x="914400" y="60258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mporium_deck/textur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5358384" y="3611880"/>
            <a:ext cx="1463040" cy="0"/>
          </a:xfrm>
          <a:prstGeom prst="line">
            <a:avLst/>
          </a:prstGeom>
          <a:noFill/>
          <a:ln w="15875">
            <a:solidFill>
              <a:srgbClr val="EF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F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EmporiUm Maryland Territory Sales Analysis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499</Words>
  <Application>Microsoft Office PowerPoint</Application>
  <PresentationFormat>Widescreen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jonathan lopez</cp:lastModifiedBy>
  <cp:revision>1</cp:revision>
  <dcterms:created xsi:type="dcterms:W3CDTF">2026-07-16T13:18:42Z</dcterms:created>
  <dcterms:modified xsi:type="dcterms:W3CDTF">2026-07-16T14:44:10Z</dcterms:modified>
</cp:coreProperties>
</file>